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Josefin Sans Bold" charset="1" panose="00000800000000000000"/>
      <p:regular r:id="rId15"/>
    </p:embeddedFont>
    <p:embeddedFont>
      <p:font typeface="Josefin Sans" charset="1" panose="00000500000000000000"/>
      <p:regular r:id="rId16"/>
    </p:embeddedFont>
    <p:embeddedFont>
      <p:font typeface="More Sugar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02445" y="2290202"/>
            <a:ext cx="8217084" cy="5706596"/>
            <a:chOff x="0" y="0"/>
            <a:chExt cx="10956112" cy="760879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109067"/>
              <a:ext cx="10956112" cy="3385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02"/>
                </a:lnSpc>
              </a:pPr>
              <a:r>
                <a:rPr lang="en-US" sz="6375" b="true">
                  <a:solidFill>
                    <a:srgbClr val="F7B4A7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Projeto A3: Protótipo de Compilador (MiniCalc)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10956112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spc="446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JULIA TIZUEY MARTINS HOSOY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847641"/>
              <a:ext cx="10956112" cy="761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60"/>
                </a:lnSpc>
              </a:pPr>
              <a:r>
                <a:rPr lang="en-US" sz="3400">
                  <a:solidFill>
                    <a:srgbClr val="94DDDE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 Teoria da Computação e Compiladores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82834" y="-1921745"/>
            <a:ext cx="6755642" cy="4114800"/>
          </a:xfrm>
          <a:custGeom>
            <a:avLst/>
            <a:gdLst/>
            <a:ahLst/>
            <a:cxnLst/>
            <a:rect r="r" b="b" t="t" l="l"/>
            <a:pathLst>
              <a:path h="4114800" w="6755642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03834" y="1790711"/>
            <a:ext cx="1194327" cy="2586142"/>
          </a:xfrm>
          <a:custGeom>
            <a:avLst/>
            <a:gdLst/>
            <a:ahLst/>
            <a:cxnLst/>
            <a:rect r="r" b="b" t="t" l="l"/>
            <a:pathLst>
              <a:path h="2586142" w="1194327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2095190" y="2021154"/>
            <a:ext cx="5357753" cy="5591583"/>
          </a:xfrm>
          <a:custGeom>
            <a:avLst/>
            <a:gdLst/>
            <a:ahLst/>
            <a:cxnLst/>
            <a:rect r="r" b="b" t="t" l="l"/>
            <a:pathLst>
              <a:path h="5591583" w="535775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47148" y="1264426"/>
            <a:ext cx="3144039" cy="2440918"/>
          </a:xfrm>
          <a:custGeom>
            <a:avLst/>
            <a:gdLst/>
            <a:ahLst/>
            <a:cxnLst/>
            <a:rect r="r" b="b" t="t" l="l"/>
            <a:pathLst>
              <a:path h="2440918" w="3144039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4872" y="5005800"/>
            <a:ext cx="1894295" cy="4252500"/>
          </a:xfrm>
          <a:custGeom>
            <a:avLst/>
            <a:gdLst/>
            <a:ahLst/>
            <a:cxnLst/>
            <a:rect r="r" b="b" t="t" l="l"/>
            <a:pathLst>
              <a:path h="4252500" w="1894295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11803" y="7612736"/>
            <a:ext cx="3486358" cy="4114800"/>
          </a:xfrm>
          <a:custGeom>
            <a:avLst/>
            <a:gdLst/>
            <a:ahLst/>
            <a:cxnLst/>
            <a:rect r="r" b="b" t="t" l="l"/>
            <a:pathLst>
              <a:path h="4114800" w="3486358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835" y="11481"/>
            <a:ext cx="6948118" cy="10635514"/>
          </a:xfrm>
          <a:custGeom>
            <a:avLst/>
            <a:gdLst/>
            <a:ahLst/>
            <a:cxnLst/>
            <a:rect r="r" b="b" t="t" l="l"/>
            <a:pathLst>
              <a:path h="10635514" w="6948118">
                <a:moveTo>
                  <a:pt x="0" y="0"/>
                </a:moveTo>
                <a:lnTo>
                  <a:pt x="6948119" y="0"/>
                </a:lnTo>
                <a:lnTo>
                  <a:pt x="6948119" y="10635513"/>
                </a:lnTo>
                <a:lnTo>
                  <a:pt x="0" y="10635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215" t="0" r="-93487" b="-178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06268" y="1776498"/>
            <a:ext cx="639570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9"/>
              </a:lnSpc>
            </a:pPr>
            <a:r>
              <a:rPr lang="en-US" sz="5274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 Estudo de Caso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06268" y="3078480"/>
            <a:ext cx="8796547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</a:t>
            </a:r>
            <a:r>
              <a:rPr lang="en-US" sz="27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ompilador estudado: </a:t>
            </a:r>
            <a:r>
              <a:rPr lang="en-US" sz="2700" u="sng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Tiny C Compiler (TCC)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Compilador para a linguagem C.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Pequeno, rápido e com código-fonte fácil de entender.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Pos</a:t>
            </a:r>
            <a:r>
              <a:rPr lang="en-US" sz="27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sui as principais etapas presentes em compiladores maiores.</a:t>
            </a:r>
          </a:p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 que foi aproveitado no projeto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O MiniCalc foi desenvolvido seguindo a mesma ideia de dividir o processo em etapas: análise léxica, análise sintática, construção da AST e geração de código.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94DD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161353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89"/>
              </a:lnSpc>
            </a:pPr>
            <a:r>
              <a:rPr lang="en-US" b="true" sz="6325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Flux</a:t>
            </a:r>
            <a:r>
              <a:rPr lang="en-US" b="true" sz="6325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 simplificado do TCC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84432" y="4153055"/>
            <a:ext cx="2401669" cy="2865551"/>
            <a:chOff x="0" y="0"/>
            <a:chExt cx="3202226" cy="38207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3202226" cy="616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800" spc="478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PASSO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65283"/>
              <a:ext cx="3202226" cy="14554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U</a:t>
              </a:r>
              <a:r>
                <a:rPr lang="en-US" sz="2100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sa esses tokens para montar uma estrutura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06221"/>
              <a:ext cx="3202226" cy="1112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Anál</a:t>
              </a:r>
              <a:r>
                <a:rPr lang="en-US" b="true" sz="2400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ise Sintática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3950" y="4153055"/>
            <a:ext cx="2459408" cy="2696454"/>
            <a:chOff x="0" y="0"/>
            <a:chExt cx="3279211" cy="359527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3279211" cy="616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 spc="478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PASSO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931749"/>
              <a:ext cx="3279211" cy="1462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4"/>
                </a:lnSpc>
              </a:pPr>
              <a:r>
                <a:rPr lang="en-US" sz="2102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O</a:t>
              </a:r>
              <a:r>
                <a:rPr lang="en-US" sz="2102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 código é quebrado e dividido em "tokens"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19681"/>
              <a:ext cx="3279211" cy="537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0"/>
                </a:lnSpc>
              </a:pPr>
              <a:r>
                <a:rPr lang="en-US" b="true" sz="2421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Aná</a:t>
              </a:r>
              <a:r>
                <a:rPr lang="en-US" b="true" sz="2421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lise Léxica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19046" y="4153055"/>
            <a:ext cx="2459408" cy="2931279"/>
            <a:chOff x="0" y="0"/>
            <a:chExt cx="3279211" cy="390837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3279211" cy="616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 spc="478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PASSO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98005"/>
              <a:ext cx="3279211" cy="1498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1"/>
                </a:lnSpc>
              </a:pPr>
              <a:r>
                <a:rPr lang="en-US" sz="2165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Ch</a:t>
              </a:r>
              <a:r>
                <a:rPr lang="en-US" sz="2165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eca se essa estrutura montada faz sentido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15746"/>
              <a:ext cx="3279211" cy="1117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24"/>
                </a:lnSpc>
              </a:pPr>
              <a:r>
                <a:rPr lang="en-US" b="true" sz="2446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A</a:t>
              </a:r>
              <a:r>
                <a:rPr lang="en-US" b="true" sz="2446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nálise Semântica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266418" y="4153055"/>
            <a:ext cx="2680634" cy="3081482"/>
            <a:chOff x="0" y="0"/>
            <a:chExt cx="3574179" cy="410864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3574179" cy="616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800" spc="478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PASSO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618906"/>
              <a:ext cx="3574179" cy="1451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6"/>
                </a:lnSpc>
              </a:pPr>
              <a:r>
                <a:rPr lang="en-US" sz="2140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Tr</a:t>
              </a:r>
              <a:r>
                <a:rPr lang="en-US" sz="2140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ansforma tudo em máquina virtual ou código nativo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915746"/>
              <a:ext cx="3574179" cy="1117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20"/>
                </a:lnSpc>
              </a:pPr>
              <a:r>
                <a:rPr lang="en-US" b="true" sz="2443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G</a:t>
              </a:r>
              <a:r>
                <a:rPr lang="en-US" b="true" sz="2443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eração de Código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704642" y="4153055"/>
            <a:ext cx="2459408" cy="2590377"/>
            <a:chOff x="0" y="0"/>
            <a:chExt cx="3279211" cy="345383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57150"/>
              <a:ext cx="3279211" cy="616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 spc="478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PASSO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998385"/>
              <a:ext cx="3279211" cy="14554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O</a:t>
              </a:r>
              <a:r>
                <a:rPr lang="en-US" sz="2100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 programa finalizado e pronto para rodar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925271"/>
              <a:ext cx="3279211" cy="525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4"/>
                </a:lnSpc>
              </a:pPr>
              <a:r>
                <a:rPr lang="en-US" b="true" sz="2402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Executável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51969" y="3258915"/>
            <a:ext cx="14021736" cy="669290"/>
            <a:chOff x="0" y="0"/>
            <a:chExt cx="18695648" cy="89238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104775"/>
              <a:ext cx="804493" cy="997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b="true" sz="4400" spc="752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1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575484" y="-104775"/>
              <a:ext cx="804493" cy="997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b="true" sz="4400" spc="752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2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926794" y="-104775"/>
              <a:ext cx="804493" cy="997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b="true" sz="4400" spc="752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3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3670775" y="-104775"/>
              <a:ext cx="804493" cy="997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b="true" sz="4400" spc="752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4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7891155" y="-104775"/>
              <a:ext cx="804493" cy="997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b="true" sz="4400" spc="752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5</a:t>
              </a:r>
            </a:p>
          </p:txBody>
        </p:sp>
        <p:sp>
          <p:nvSpPr>
            <p:cNvPr name="AutoShape 29" id="29"/>
            <p:cNvSpPr/>
            <p:nvPr/>
          </p:nvSpPr>
          <p:spPr>
            <a:xfrm rot="0">
              <a:off x="804493" y="395393"/>
              <a:ext cx="3529461" cy="0"/>
            </a:xfrm>
            <a:prstGeom prst="line">
              <a:avLst/>
            </a:prstGeom>
            <a:ln cap="flat" w="38100">
              <a:solidFill>
                <a:srgbClr val="2B4B8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 rot="0">
              <a:off x="5397334" y="382693"/>
              <a:ext cx="3529461" cy="0"/>
            </a:xfrm>
            <a:prstGeom prst="line">
              <a:avLst/>
            </a:prstGeom>
            <a:ln cap="flat" w="38100">
              <a:solidFill>
                <a:srgbClr val="2B4B8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 rot="0">
              <a:off x="9980379" y="382693"/>
              <a:ext cx="3529461" cy="0"/>
            </a:xfrm>
            <a:prstGeom prst="line">
              <a:avLst/>
            </a:prstGeom>
            <a:ln cap="flat" w="38100">
              <a:solidFill>
                <a:srgbClr val="2B4B8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 rot="0">
              <a:off x="14361695" y="382693"/>
              <a:ext cx="3529461" cy="0"/>
            </a:xfrm>
            <a:prstGeom prst="line">
              <a:avLst/>
            </a:prstGeom>
            <a:ln cap="flat" w="38100">
              <a:solidFill>
                <a:srgbClr val="2B4B82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9878" y="1346692"/>
            <a:ext cx="6551088" cy="8229600"/>
          </a:xfrm>
          <a:custGeom>
            <a:avLst/>
            <a:gdLst/>
            <a:ahLst/>
            <a:cxnLst/>
            <a:rect r="r" b="b" t="t" l="l"/>
            <a:pathLst>
              <a:path h="8229600" w="6551088">
                <a:moveTo>
                  <a:pt x="0" y="0"/>
                </a:moveTo>
                <a:lnTo>
                  <a:pt x="6551088" y="0"/>
                </a:lnTo>
                <a:lnTo>
                  <a:pt x="65510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27339" y="1526255"/>
            <a:ext cx="7872957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19"/>
              </a:lnSpc>
            </a:pPr>
            <a:r>
              <a:rPr lang="en-US" sz="8099" b="true">
                <a:solidFill>
                  <a:srgbClr val="F7B4A7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Arquitetura do MiniCalc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40384" y="4276188"/>
            <a:ext cx="8592473" cy="436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O MiniCalc recebe um arquivo .calc e gera um código Python equivalente.</a:t>
            </a:r>
          </a:p>
          <a:p>
            <a:pPr algn="just">
              <a:lnSpc>
                <a:spcPts val="3850"/>
              </a:lnSpc>
            </a:pPr>
          </a:p>
          <a:p>
            <a:pPr algn="just">
              <a:lnSpc>
                <a:spcPts val="3850"/>
              </a:lnSpc>
            </a:pPr>
            <a:r>
              <a:rPr lang="en-US" sz="2750" b="true">
                <a:solidFill>
                  <a:srgbClr val="94DDD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</a:t>
            </a:r>
            <a:r>
              <a:rPr lang="en-US" sz="2750" b="true">
                <a:solidFill>
                  <a:srgbClr val="94DDD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luxo do compilador:</a:t>
            </a:r>
          </a:p>
          <a:p>
            <a:pPr algn="just"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Códig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o Fonte 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→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Lex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er 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→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 Parser 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→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 AST 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→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Geraçã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o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de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 Código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 Python</a:t>
            </a:r>
          </a:p>
          <a:p>
            <a:pPr algn="just"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Cad</a:t>
            </a:r>
            <a:r>
              <a:rPr lang="en-US" sz="27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a etapa possui uma responsabilidade específica, facilitando a organização do projeto e a identificação de erros.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8512" y="2240630"/>
            <a:ext cx="37867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>
                <a:solidFill>
                  <a:srgbClr val="2B4B82"/>
                </a:solidFill>
                <a:latin typeface="More Sugar"/>
                <a:ea typeface="More Sugar"/>
                <a:cs typeface="More Sugar"/>
                <a:sym typeface="More Sugar"/>
              </a:rPr>
              <a:t>MiniCalc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1796" y="4067868"/>
            <a:ext cx="7389900" cy="5664428"/>
            <a:chOff x="0" y="0"/>
            <a:chExt cx="9853200" cy="755257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2565133" y="-19050"/>
              <a:ext cx="3288773" cy="1314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L</a:t>
              </a:r>
              <a:r>
                <a:rPr lang="en-US" sz="6400" b="true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exer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28799"/>
              <a:ext cx="9853200" cy="5623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3555" indent="-261778" lvl="1">
                <a:lnSpc>
                  <a:spcPts val="3394"/>
                </a:lnSpc>
                <a:buFont typeface="Arial"/>
                <a:buChar char="•"/>
              </a:pPr>
              <a:r>
                <a:rPr lang="en-US" sz="2424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O Lexer foi implementado utilizando Expressões Regulares da biblioteca re do Python.</a:t>
              </a:r>
            </a:p>
            <a:p>
              <a:pPr algn="l">
                <a:lnSpc>
                  <a:spcPts val="3394"/>
                </a:lnSpc>
              </a:pPr>
            </a:p>
            <a:p>
              <a:pPr algn="l" marL="523555" indent="-261778" lvl="1">
                <a:lnSpc>
                  <a:spcPts val="3394"/>
                </a:lnSpc>
                <a:buFont typeface="Arial"/>
                <a:buChar char="•"/>
              </a:pPr>
              <a:r>
                <a:rPr lang="en-US" sz="2424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Ele é responsável por ler o código-fonte e identificar seus elementos, como números, operadores, identificadores e palavras-chave, transformando tudo em uma sequência de tokens.</a:t>
              </a:r>
            </a:p>
            <a:p>
              <a:pPr algn="l">
                <a:lnSpc>
                  <a:spcPts val="3674"/>
                </a:lnSpc>
              </a:pPr>
            </a:p>
            <a:p>
              <a:pPr algn="l">
                <a:lnSpc>
                  <a:spcPts val="283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08423" y="4034804"/>
            <a:ext cx="7327240" cy="5687968"/>
            <a:chOff x="0" y="0"/>
            <a:chExt cx="9769654" cy="758395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628731" y="-19050"/>
              <a:ext cx="3664213" cy="1314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Par</a:t>
              </a:r>
              <a:r>
                <a:rPr lang="en-US" sz="6400" b="true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ser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400962"/>
              <a:ext cx="9769654" cy="618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Cada regra da gramática possui um método correspondente, o que tornou o código mais organizado e fácil de relacionar com a teoria estudada em sala.</a:t>
              </a:r>
            </a:p>
            <a:p>
              <a:pPr algn="l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Durante essa etapa também é construída a AST, que garante automaticamente a precedência correta das operações matemáticas.</a:t>
              </a:r>
            </a:p>
            <a:p>
              <a:pPr algn="l">
                <a:lnSpc>
                  <a:spcPts val="3639"/>
                </a:lnSpc>
              </a:pP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-963412"/>
            <a:ext cx="4597438" cy="2842053"/>
          </a:xfrm>
          <a:custGeom>
            <a:avLst/>
            <a:gdLst/>
            <a:ahLst/>
            <a:cxnLst/>
            <a:rect r="r" b="b" t="t" l="l"/>
            <a:pathLst>
              <a:path h="2842053" w="4597438">
                <a:moveTo>
                  <a:pt x="0" y="0"/>
                </a:moveTo>
                <a:lnTo>
                  <a:pt x="4597438" y="0"/>
                </a:lnTo>
                <a:lnTo>
                  <a:pt x="4597438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0551837" y="390596"/>
            <a:ext cx="2076668" cy="1276207"/>
          </a:xfrm>
          <a:custGeom>
            <a:avLst/>
            <a:gdLst/>
            <a:ahLst/>
            <a:cxnLst/>
            <a:rect r="r" b="b" t="t" l="l"/>
            <a:pathLst>
              <a:path h="1276207" w="2076668">
                <a:moveTo>
                  <a:pt x="2076668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8" y="1276208"/>
                </a:lnTo>
                <a:lnTo>
                  <a:pt x="20766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38681" y="-2447996"/>
            <a:ext cx="3837986" cy="4114800"/>
          </a:xfrm>
          <a:custGeom>
            <a:avLst/>
            <a:gdLst/>
            <a:ahLst/>
            <a:cxnLst/>
            <a:rect r="r" b="b" t="t" l="l"/>
            <a:pathLst>
              <a:path h="4114800" w="3837986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94246" y="-3759204"/>
            <a:ext cx="5357753" cy="5591583"/>
          </a:xfrm>
          <a:custGeom>
            <a:avLst/>
            <a:gdLst/>
            <a:ahLst/>
            <a:cxnLst/>
            <a:rect r="r" b="b" t="t" l="l"/>
            <a:pathLst>
              <a:path h="5591583" w="5357753">
                <a:moveTo>
                  <a:pt x="0" y="0"/>
                </a:moveTo>
                <a:lnTo>
                  <a:pt x="5357752" y="0"/>
                </a:lnTo>
                <a:lnTo>
                  <a:pt x="5357752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14169" y="2332834"/>
            <a:ext cx="12722331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19"/>
              </a:lnSpc>
            </a:pPr>
            <a:r>
              <a:rPr lang="en-US" sz="8099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</a:t>
            </a:r>
            <a:r>
              <a:rPr lang="en-US" b="true" sz="8099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ront-end: Lexer e Parser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DD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03349" y="3071583"/>
            <a:ext cx="5635061" cy="4733451"/>
          </a:xfrm>
          <a:custGeom>
            <a:avLst/>
            <a:gdLst/>
            <a:ahLst/>
            <a:cxnLst/>
            <a:rect r="r" b="b" t="t" l="l"/>
            <a:pathLst>
              <a:path h="4733451" w="5635061">
                <a:moveTo>
                  <a:pt x="0" y="0"/>
                </a:moveTo>
                <a:lnTo>
                  <a:pt x="5635061" y="0"/>
                </a:lnTo>
                <a:lnTo>
                  <a:pt x="5635061" y="4733452"/>
                </a:lnTo>
                <a:lnTo>
                  <a:pt x="0" y="4733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310594"/>
            <a:ext cx="9768230" cy="7608866"/>
            <a:chOff x="0" y="0"/>
            <a:chExt cx="13024306" cy="1014515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13024306" cy="260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31356E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B</a:t>
              </a:r>
              <a:r>
                <a:rPr lang="en-US" sz="6400" b="true">
                  <a:solidFill>
                    <a:srgbClr val="31356E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ack-end: Geração de Código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33230"/>
              <a:ext cx="12478551" cy="6410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7533" indent="-288767" lvl="1">
                <a:lnSpc>
                  <a:spcPts val="3210"/>
                </a:lnSpc>
                <a:buFont typeface="Arial"/>
                <a:buChar char="•"/>
              </a:pPr>
              <a:r>
                <a:rPr lang="en-US" sz="2675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Após a construção da AST, o compilador percorre cada nó da árvore para gerar o código Python equivalente.</a:t>
              </a:r>
            </a:p>
            <a:p>
              <a:pPr algn="l">
                <a:lnSpc>
                  <a:spcPts val="3210"/>
                </a:lnSpc>
              </a:pPr>
            </a:p>
            <a:p>
              <a:pPr algn="l" marL="577533" indent="-288767" lvl="1">
                <a:lnSpc>
                  <a:spcPts val="3210"/>
                </a:lnSpc>
                <a:buFont typeface="Arial"/>
                <a:buChar char="•"/>
              </a:pPr>
              <a:r>
                <a:rPr lang="en-US" sz="2675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Por exemplo, um nó de atribuição é convertido em uma instrução de atribuição do Python, enquanto um nó de operação matemática é convertido em uma expressão com os operadores correspondentes.</a:t>
              </a:r>
            </a:p>
            <a:p>
              <a:pPr algn="l">
                <a:lnSpc>
                  <a:spcPts val="3210"/>
                </a:lnSpc>
              </a:pPr>
            </a:p>
            <a:p>
              <a:pPr algn="l" marL="577533" indent="-288766" lvl="1">
                <a:lnSpc>
                  <a:spcPts val="3210"/>
                </a:lnSpc>
                <a:buFont typeface="Arial"/>
                <a:buChar char="•"/>
              </a:pPr>
              <a:r>
                <a:rPr lang="en-US" sz="2675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Como a árvore já foi validada pelo Parser, a geração do código acontece de forma direta, produzindo um código Python válido e pronto para ser executado.</a:t>
              </a:r>
            </a:p>
            <a:p>
              <a:pPr algn="l">
                <a:lnSpc>
                  <a:spcPts val="321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4797" y="3816092"/>
            <a:ext cx="5726902" cy="2123691"/>
          </a:xfrm>
          <a:custGeom>
            <a:avLst/>
            <a:gdLst/>
            <a:ahLst/>
            <a:cxnLst/>
            <a:rect r="r" b="b" t="t" l="l"/>
            <a:pathLst>
              <a:path h="2123691" w="5726902">
                <a:moveTo>
                  <a:pt x="0" y="0"/>
                </a:moveTo>
                <a:lnTo>
                  <a:pt x="5726902" y="0"/>
                </a:lnTo>
                <a:lnTo>
                  <a:pt x="5726902" y="2123691"/>
                </a:lnTo>
                <a:lnTo>
                  <a:pt x="0" y="2123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650" b="-132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2089" y="7826243"/>
            <a:ext cx="4634425" cy="2007123"/>
          </a:xfrm>
          <a:custGeom>
            <a:avLst/>
            <a:gdLst/>
            <a:ahLst/>
            <a:cxnLst/>
            <a:rect r="r" b="b" t="t" l="l"/>
            <a:pathLst>
              <a:path h="2007123" w="4634425">
                <a:moveTo>
                  <a:pt x="0" y="0"/>
                </a:moveTo>
                <a:lnTo>
                  <a:pt x="4634426" y="0"/>
                </a:lnTo>
                <a:lnTo>
                  <a:pt x="4634426" y="2007123"/>
                </a:lnTo>
                <a:lnTo>
                  <a:pt x="0" y="20071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8248" y="630409"/>
            <a:ext cx="9684187" cy="184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0"/>
              </a:lnSpc>
            </a:pPr>
            <a:r>
              <a:rPr lang="en-US" sz="7158" b="true">
                <a:solidFill>
                  <a:srgbClr val="F7B4A7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</a:t>
            </a:r>
            <a:r>
              <a:rPr lang="en-US" sz="7158" b="true">
                <a:solidFill>
                  <a:srgbClr val="F7B4A7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emonstração Prática</a:t>
            </a:r>
          </a:p>
          <a:p>
            <a:pPr algn="ctr">
              <a:lnSpc>
                <a:spcPts val="5939"/>
              </a:lnSpc>
            </a:pPr>
            <a:r>
              <a:rPr lang="en-US" b="true" sz="4949">
                <a:solidFill>
                  <a:srgbClr val="F7B4A7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(Exemplo de Execução)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2089" y="2692286"/>
            <a:ext cx="5128593" cy="95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b="true" sz="2349" spc="281">
                <a:solidFill>
                  <a:srgbClr val="94DDD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CÓDIGO FONTE ORIGINAL DE ENTRADA (.CALC):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91280" y="5332660"/>
            <a:ext cx="6287033" cy="313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4189" indent="-232094" lvl="1">
              <a:lnSpc>
                <a:spcPts val="3010"/>
              </a:lnSpc>
              <a:buFont typeface="Arial"/>
              <a:buChar char="•"/>
            </a:pPr>
            <a:r>
              <a:rPr lang="en-US" b="true" sz="2150">
                <a:solidFill>
                  <a:srgbClr val="94DDD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Lexer:</a:t>
            </a:r>
            <a:r>
              <a:rPr lang="en-US" sz="21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 Lê</a:t>
            </a:r>
            <a:r>
              <a:rPr lang="en-US" sz="21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 o texto e extrai os tokens em sequência: [ID: area], [ASSIGN: =], [ID: base], [MUL: *], [ID: altura], [DIV: /], [NUM: 2]...</a:t>
            </a:r>
          </a:p>
          <a:p>
            <a:pPr algn="just">
              <a:lnSpc>
                <a:spcPts val="3010"/>
              </a:lnSpc>
            </a:pPr>
          </a:p>
          <a:p>
            <a:pPr algn="just" marL="464189" indent="-232094" lvl="1">
              <a:lnSpc>
                <a:spcPts val="3010"/>
              </a:lnSpc>
              <a:buFont typeface="Arial"/>
              <a:buChar char="•"/>
            </a:pPr>
            <a:r>
              <a:rPr lang="en-US" b="true" sz="2150">
                <a:solidFill>
                  <a:srgbClr val="94DDD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Parser:</a:t>
            </a:r>
            <a:r>
              <a:rPr lang="en-US" sz="215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 Monta a Árvore Sintática agrupando a multiplicação e a divisão de forma hierárquica ((base * altura) / 2).</a:t>
            </a:r>
          </a:p>
          <a:p>
            <a:pPr algn="just">
              <a:lnSpc>
                <a:spcPts val="385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180265" y="4039285"/>
            <a:ext cx="5128593" cy="95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b="true" sz="2349" spc="281">
                <a:solidFill>
                  <a:srgbClr val="94DDD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PROCESSAMENTO INTERNO DO COMPILADOR: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2089" y="6560370"/>
            <a:ext cx="5128593" cy="95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b="true" sz="2349" spc="281">
                <a:solidFill>
                  <a:srgbClr val="94DDD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CÓDIGO FINAL GERADO COM SUCESSO (PYTHON):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62" y="694809"/>
            <a:ext cx="7424930" cy="6204749"/>
          </a:xfrm>
          <a:custGeom>
            <a:avLst/>
            <a:gdLst/>
            <a:ahLst/>
            <a:cxnLst/>
            <a:rect r="r" b="b" t="t" l="l"/>
            <a:pathLst>
              <a:path h="6204749" w="7424930">
                <a:moveTo>
                  <a:pt x="0" y="0"/>
                </a:moveTo>
                <a:lnTo>
                  <a:pt x="7424930" y="0"/>
                </a:lnTo>
                <a:lnTo>
                  <a:pt x="7424930" y="6204749"/>
                </a:lnTo>
                <a:lnTo>
                  <a:pt x="0" y="6204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32731" y="1990947"/>
            <a:ext cx="9285723" cy="741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918" indent="-304959" lvl="1">
              <a:lnSpc>
                <a:spcPts val="3955"/>
              </a:lnSpc>
              <a:buFont typeface="Arial"/>
              <a:buChar char="•"/>
            </a:pPr>
            <a:r>
              <a:rPr lang="en-US" b="true" sz="2825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Teoria na Prática:</a:t>
            </a: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 A aplicação</a:t>
            </a: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 de autômatos e linguagens formais provou ser a fundação essencial e útil para a engenharia de software na prática.</a:t>
            </a:r>
          </a:p>
          <a:p>
            <a:pPr algn="l">
              <a:lnSpc>
                <a:spcPts val="3955"/>
              </a:lnSpc>
            </a:pPr>
          </a:p>
          <a:p>
            <a:pPr algn="l" marL="609918" indent="-304959" lvl="1">
              <a:lnSpc>
                <a:spcPts val="3955"/>
              </a:lnSpc>
              <a:buFont typeface="Arial"/>
              <a:buChar char="•"/>
            </a:pPr>
            <a:r>
              <a:rPr lang="en-US" b="true" sz="2825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Robustez:</a:t>
            </a: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 O rigor sintático estabelecido no projeto previne que falhas lógicas drásticas cheguem ao usuário.</a:t>
            </a:r>
          </a:p>
          <a:p>
            <a:pPr algn="l">
              <a:lnSpc>
                <a:spcPts val="3955"/>
              </a:lnSpc>
            </a:pPr>
          </a:p>
          <a:p>
            <a:pPr algn="l" marL="609918" indent="-304959" lvl="1">
              <a:lnSpc>
                <a:spcPts val="3955"/>
              </a:lnSpc>
              <a:buFont typeface="Arial"/>
              <a:buChar char="•"/>
            </a:pPr>
            <a:r>
              <a:rPr lang="en-US" b="true" sz="2825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Escalabilidade: </a:t>
            </a: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O protótipo desenvolvido possui uma estrutura altamente escalável, permitindo a fácil inclusão de novas estruturas de controle (como if e while) em expansões futuras.</a:t>
            </a:r>
          </a:p>
          <a:p>
            <a:pPr algn="l">
              <a:lnSpc>
                <a:spcPts val="3955"/>
              </a:lnSpc>
            </a:pPr>
          </a:p>
          <a:p>
            <a:pPr algn="l">
              <a:lnSpc>
                <a:spcPts val="3955"/>
              </a:lnSpc>
            </a:pPr>
          </a:p>
          <a:p>
            <a:pPr algn="l">
              <a:lnSpc>
                <a:spcPts val="395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131148" y="933450"/>
            <a:ext cx="4913337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</a:t>
            </a:r>
            <a:r>
              <a:rPr lang="en-US" sz="48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onclusão Geral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294627" y="4407661"/>
            <a:ext cx="4502993" cy="5656744"/>
            <a:chOff x="0" y="0"/>
            <a:chExt cx="6003990" cy="75423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03990" cy="7542326"/>
            </a:xfrm>
            <a:custGeom>
              <a:avLst/>
              <a:gdLst/>
              <a:ahLst/>
              <a:cxnLst/>
              <a:rect r="r" b="b" t="t" l="l"/>
              <a:pathLst>
                <a:path h="7542326" w="6003990">
                  <a:moveTo>
                    <a:pt x="0" y="0"/>
                  </a:moveTo>
                  <a:lnTo>
                    <a:pt x="6003990" y="0"/>
                  </a:lnTo>
                  <a:lnTo>
                    <a:pt x="6003990" y="7542326"/>
                  </a:lnTo>
                  <a:lnTo>
                    <a:pt x="0" y="7542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126028" y="808963"/>
              <a:ext cx="3470522" cy="961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9"/>
                </a:lnSpc>
              </a:pPr>
              <a:r>
                <a:rPr lang="en-US" sz="4674">
                  <a:solidFill>
                    <a:srgbClr val="2B4B82"/>
                  </a:solidFill>
                  <a:latin typeface="More Sugar"/>
                  <a:ea typeface="More Sugar"/>
                  <a:cs typeface="More Sugar"/>
                  <a:sym typeface="More Sugar"/>
                </a:rPr>
                <a:t>MiniCalc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DD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5158" y="2757062"/>
            <a:ext cx="7312717" cy="4772876"/>
            <a:chOff x="0" y="0"/>
            <a:chExt cx="9750289" cy="636383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0139"/>
              <a:ext cx="9750289" cy="3458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33"/>
                </a:lnSpc>
              </a:pPr>
              <a:r>
                <a:rPr lang="en-US" sz="6950" spc="-76" b="true">
                  <a:solidFill>
                    <a:srgbClr val="2B4B82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Muito obrigada professora pela oportunidade.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976360"/>
              <a:ext cx="9750289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2B4B8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https://github.com/Tizuey/minicalc_TrilhaDeAprendizado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54137" y="3018272"/>
            <a:ext cx="7411325" cy="4635447"/>
          </a:xfrm>
          <a:custGeom>
            <a:avLst/>
            <a:gdLst/>
            <a:ahLst/>
            <a:cxnLst/>
            <a:rect r="r" b="b" t="t" l="l"/>
            <a:pathLst>
              <a:path h="4635447" w="7411325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5100" y="8613636"/>
            <a:ext cx="4338720" cy="2713672"/>
          </a:xfrm>
          <a:custGeom>
            <a:avLst/>
            <a:gdLst/>
            <a:ahLst/>
            <a:cxnLst/>
            <a:rect r="r" b="b" t="t" l="l"/>
            <a:pathLst>
              <a:path h="2713672" w="4338720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76014" y="7483497"/>
            <a:ext cx="3289448" cy="2057400"/>
          </a:xfrm>
          <a:custGeom>
            <a:avLst/>
            <a:gdLst/>
            <a:ahLst/>
            <a:cxnLst/>
            <a:rect r="r" b="b" t="t" l="l"/>
            <a:pathLst>
              <a:path h="2057400" w="3289448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20348" y="712171"/>
            <a:ext cx="3289448" cy="2057400"/>
          </a:xfrm>
          <a:custGeom>
            <a:avLst/>
            <a:gdLst/>
            <a:ahLst/>
            <a:cxnLst/>
            <a:rect r="r" b="b" t="t" l="l"/>
            <a:pathLst>
              <a:path h="2057400" w="3289448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DAHNnkOn2G0</dc:identifier>
  <dcterms:modified xsi:type="dcterms:W3CDTF">2011-08-01T06:04:30Z</dcterms:modified>
  <cp:revision>1</cp:revision>
  <dc:title>Azul Elementos Isométricos e Mockups Tecnologia na Educação Apresentação de Tecnologia</dc:title>
</cp:coreProperties>
</file>